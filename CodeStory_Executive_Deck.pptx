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365760"/>
            <a:ext cx="2560320" cy="2560320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2926080"/>
            <a:ext cx="1463040" cy="1463040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CodeStory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ECBF6"/>
                </a:solidFill>
              </a:rPr>
              <a:t>AI Integrated Document Generator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A9EC"/>
                </a:solidFill>
              </a:rPr>
              <a:t>From code to complete architecture documentation — automatically.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246120"/>
            <a:ext cx="4572000" cy="274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4015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7DD"/>
                </a:solidFill>
              </a:rPr>
              <a:t>Executive Demo  ·  15–20 minutes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88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47488"/>
            <a:ext cx="85953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ECBF6"/>
                </a:solidFill>
              </a:rPr>
              <a:t>CodeStory — AI Integrated Document Generator  ·  Confidential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"/>
            <a:ext cx="1380744" cy="228600"/>
          </a:xfrm>
          <a:prstGeom prst="roundRect">
            <a:avLst>
              <a:gd name="adj" fmla="val 48000"/>
            </a:avLst>
          </a:prstGeom>
          <a:solidFill>
            <a:srgbClr val="EEEDFE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1380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5A30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4572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2C2A"/>
                </a:solidFill>
              </a:rPr>
              <a:t>Every team has this problem.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024128"/>
            <a:ext cx="8503920" cy="1005840"/>
          </a:xfrm>
          <a:prstGeom prst="roundRect">
            <a:avLst>
              <a:gd name="adj" fmla="val 9091"/>
            </a:avLst>
          </a:prstGeom>
          <a:solidFill>
            <a:srgbClr val="FAECE7"/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24128"/>
            <a:ext cx="64008" cy="100584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78992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C2C2A"/>
                </a:solidFill>
              </a:rPr>
              <a:t>"I joined a complex project mid-flight. Two hundred files. DAGs, pipelines, feature stores — all interconnected. No documentation. I spent three weeks just understanding what it did before I could contribute anything."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148840"/>
            <a:ext cx="2029968" cy="2606040"/>
          </a:xfrm>
          <a:prstGeom prst="roundRect">
            <a:avLst>
              <a:gd name="adj" fmla="val 4505"/>
            </a:avLst>
          </a:prstGeom>
          <a:solidFill>
            <a:srgbClr val="FAECE7"/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192" y="221284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22128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" y="26334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</a:rPr>
              <a:t>Weeks lost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926080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</a:rPr>
              <a:t>New engineers spend 2–3 weeks understanding a system before contributing a line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68880" y="2148840"/>
            <a:ext cx="2029968" cy="2606040"/>
          </a:xfrm>
          <a:prstGeom prst="roundRect">
            <a:avLst>
              <a:gd name="adj" fmla="val 4505"/>
            </a:avLst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42032" y="221284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42032" y="22128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560320" y="26334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</a:rPr>
              <a:t>Knowledge walks out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0" y="2926080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</a:rPr>
              <a:t>When people leave, undocumented architecture leaves with them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17720" y="2148840"/>
            <a:ext cx="2029968" cy="2606040"/>
          </a:xfrm>
          <a:prstGeom prst="roundRect">
            <a:avLst>
              <a:gd name="adj" fmla="val 4505"/>
            </a:avLst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90872" y="221284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90872" y="22128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09160" y="26334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</a:rPr>
              <a:t>Modernisation risk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2926080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</a:rPr>
              <a:t>You cannot safely re-platform what you cannot fully explain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766560" y="2148840"/>
            <a:ext cx="2029968" cy="2606040"/>
          </a:xfrm>
          <a:prstGeom prst="roundRect">
            <a:avLst>
              <a:gd name="adj" fmla="val 4505"/>
            </a:avLst>
          </a:prstGeom>
          <a:solidFill>
            <a:srgbClr val="E6F1FB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39712" y="221284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39712" y="22128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0" y="26334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</a:rPr>
              <a:t>Production blind spots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2926080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</a:rPr>
              <a:t>Support engineers trace flows manually under pressure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88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47488"/>
            <a:ext cx="85953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ECBF6"/>
                </a:solidFill>
              </a:rPr>
              <a:t>CodeStory — AI Integrated Document Generator  ·  Confidential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"/>
            <a:ext cx="1883664" cy="228600"/>
          </a:xfrm>
          <a:prstGeom prst="roundRect">
            <a:avLst>
              <a:gd name="adj" fmla="val 48000"/>
            </a:avLst>
          </a:prstGeom>
          <a:solidFill>
            <a:srgbClr val="EEEDFE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18836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A7517"/>
                </a:solidFill>
              </a:rPr>
              <a:t>MARKET LANDSCAPE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45720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A"/>
                </a:solidFill>
              </a:rPr>
              <a:t>What exists today — and why it falls short.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1828800" cy="292608"/>
          </a:xfrm>
          <a:prstGeom prst="rect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0515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Tool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76272" y="1051560"/>
            <a:ext cx="3108960" cy="292608"/>
          </a:xfrm>
          <a:prstGeom prst="rect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9424" y="105156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What it does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12664" y="1051560"/>
            <a:ext cx="3108960" cy="292608"/>
          </a:xfrm>
          <a:prstGeom prst="rect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85816" y="105156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The gap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1344168"/>
            <a:ext cx="182880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1344168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</a:rPr>
              <a:t>GitHub Copilot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176272" y="1344168"/>
            <a:ext cx="310896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49424" y="1344168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</a:rPr>
              <a:t>Reads open files in your editor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312664" y="1344168"/>
            <a:ext cx="310896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85816" y="1344168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</a:rPr>
              <a:t>Sees one tree. Never the forest.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1764792"/>
            <a:ext cx="1828800" cy="420624"/>
          </a:xfrm>
          <a:prstGeom prst="rect">
            <a:avLst/>
          </a:prstGeom>
          <a:solidFill>
            <a:srgbClr val="F1EFE8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1764792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</a:rPr>
              <a:t>GitDiagram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176272" y="1764792"/>
            <a:ext cx="3108960" cy="420624"/>
          </a:xfrm>
          <a:prstGeom prst="rect">
            <a:avLst/>
          </a:prstGeom>
          <a:solidFill>
            <a:srgbClr val="F1EFE8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9424" y="1764792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</a:rPr>
              <a:t>Diagrams from file tree + README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12664" y="1764792"/>
            <a:ext cx="3108960" cy="420624"/>
          </a:xfrm>
          <a:prstGeom prst="rect">
            <a:avLst/>
          </a:prstGeom>
          <a:solidFill>
            <a:srgbClr val="F1EFE8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85816" y="1764792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</a:rPr>
              <a:t>Reads structure, not code. Surface only.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2185416"/>
            <a:ext cx="182880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" y="2185416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</a:rPr>
              <a:t>Swimm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176272" y="2185416"/>
            <a:ext cx="310896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49424" y="2185416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</a:rPr>
              <a:t>Links docs to code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312664" y="2185416"/>
            <a:ext cx="310896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85816" y="2185416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</a:rPr>
              <a:t>A human still has to write the documentation.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2606040"/>
            <a:ext cx="1828800" cy="420624"/>
          </a:xfrm>
          <a:prstGeom prst="rect">
            <a:avLst/>
          </a:prstGeom>
          <a:solidFill>
            <a:srgbClr val="F1EFE8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" y="260604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</a:rPr>
              <a:t>Sourcegraph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176272" y="2606040"/>
            <a:ext cx="3108960" cy="420624"/>
          </a:xfrm>
          <a:prstGeom prst="rect">
            <a:avLst/>
          </a:prstGeom>
          <a:solidFill>
            <a:srgbClr val="F1EFE8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49424" y="2606040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</a:rPr>
              <a:t>Code search and navigation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312664" y="2606040"/>
            <a:ext cx="3108960" cy="420624"/>
          </a:xfrm>
          <a:prstGeom prst="rect">
            <a:avLst/>
          </a:prstGeom>
          <a:solidFill>
            <a:srgbClr val="F1EFE8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85816" y="2606040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</a:rPr>
              <a:t>Helps you find code — does not explain it.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0040" y="3026664"/>
            <a:ext cx="182880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3192" y="3026664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</a:rPr>
              <a:t>Confluence / Wikis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176272" y="3026664"/>
            <a:ext cx="310896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49424" y="3026664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</a:rPr>
              <a:t>Documentation canvas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312664" y="3026664"/>
            <a:ext cx="310896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85816" y="3026664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</a:rPr>
              <a:t>Empty by default. Goes stale immediately.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20040" y="3447288"/>
            <a:ext cx="1828800" cy="420624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3192" y="3447288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CodeStory  ✓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176272" y="3447288"/>
            <a:ext cx="3108960" cy="420624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49424" y="3447288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Reads full code, generates full doc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312664" y="3447288"/>
            <a:ext cx="3108960" cy="420624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85816" y="3447288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Nothing else does all three automatically.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20040" y="4279392"/>
            <a:ext cx="8503920" cy="594360"/>
          </a:xfrm>
          <a:prstGeom prst="roundRect">
            <a:avLst>
              <a:gd name="adj" fmla="val 15385"/>
            </a:avLst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31596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34AB7"/>
                </a:solidFill>
              </a:rPr>
              <a:t>Why now?  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508760" y="4315968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A"/>
                </a:solidFill>
              </a:rPr>
              <a:t>Large context windows (100k–200k tokens)  ·  Reliable code understanding  ·  Inference cost now cents per run  ·  All three true simultaneously for the first time.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88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47488"/>
            <a:ext cx="85953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ECBF6"/>
                </a:solidFill>
              </a:rPr>
              <a:t>CodeStory — AI Integrated Document Generator  ·  Confidential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"/>
            <a:ext cx="1481328" cy="228600"/>
          </a:xfrm>
          <a:prstGeom prst="roundRect">
            <a:avLst>
              <a:gd name="adj" fmla="val 48000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1481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34AB7"/>
                </a:solidFill>
              </a:rPr>
              <a:t>THE SOLUTION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45720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34AB7"/>
                </a:solidFill>
              </a:rPr>
              <a:t>CodeStory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960120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</a:rPr>
              <a:t>Read any codebase. Understand it. Document it. Automatically.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2011680" cy="1920240"/>
          </a:xfrm>
          <a:prstGeom prst="roundRect">
            <a:avLst>
              <a:gd name="adj" fmla="val 4762"/>
            </a:avLst>
          </a:prstGeom>
          <a:solidFill>
            <a:srgbClr val="E6F1FB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" y="1536192"/>
            <a:ext cx="512064" cy="512064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15361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" y="2148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5FA5"/>
                </a:solidFill>
              </a:rPr>
              <a:t>You give 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85FA5"/>
                </a:solidFill>
              </a:rPr>
              <a:t>a repo link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31720" y="2377440"/>
            <a:ext cx="164592" cy="0"/>
          </a:xfrm>
          <a:prstGeom prst="line">
            <a:avLst/>
          </a:prstGeom>
          <a:noFill/>
          <a:ln w="12700">
            <a:solidFill>
              <a:srgbClr val="D3D1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2286000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3D1C7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96312" y="1417320"/>
            <a:ext cx="2011680" cy="1920240"/>
          </a:xfrm>
          <a:prstGeom prst="roundRect">
            <a:avLst>
              <a:gd name="adj" fmla="val 4762"/>
            </a:avLst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1536192"/>
            <a:ext cx="512064" cy="51206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5361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587752" y="2148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4AB7"/>
                </a:solidFill>
              </a:rPr>
              <a:t>It reads 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34AB7"/>
                </a:solidFill>
              </a:rPr>
              <a:t>understands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07992" y="2377440"/>
            <a:ext cx="164592" cy="0"/>
          </a:xfrm>
          <a:prstGeom prst="line">
            <a:avLst/>
          </a:prstGeom>
          <a:noFill/>
          <a:ln w="12700">
            <a:solidFill>
              <a:srgbClr val="D3D1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07992" y="2286000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3D1C7"/>
                </a:solidFill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72584" y="1417320"/>
            <a:ext cx="2011680" cy="1920240"/>
          </a:xfrm>
          <a:prstGeom prst="roundRect">
            <a:avLst>
              <a:gd name="adj" fmla="val 4762"/>
            </a:avLst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22392" y="1536192"/>
            <a:ext cx="512064" cy="512064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22392" y="15361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764024" y="2148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9E75"/>
                </a:solidFill>
              </a:rPr>
              <a:t>Generates the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D9E75"/>
                </a:solidFill>
              </a:rPr>
              <a:t>full document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84264" y="2377440"/>
            <a:ext cx="164592" cy="0"/>
          </a:xfrm>
          <a:prstGeom prst="line">
            <a:avLst/>
          </a:prstGeom>
          <a:noFill/>
          <a:ln w="12700">
            <a:solidFill>
              <a:srgbClr val="D3D1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84264" y="2286000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3D1C7"/>
                </a:solidFill>
              </a:rPr>
              <a:t>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48856" y="1417320"/>
            <a:ext cx="2011680" cy="1920240"/>
          </a:xfrm>
          <a:prstGeom prst="roundRect">
            <a:avLst>
              <a:gd name="adj" fmla="val 4762"/>
            </a:avLst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98664" y="1536192"/>
            <a:ext cx="512064" cy="512064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98664" y="15361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940296" y="2148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A7517"/>
                </a:solidFill>
              </a:rPr>
              <a:t>Publishes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BA7517"/>
                </a:solidFill>
              </a:rPr>
              <a:t>Confluence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3456432"/>
            <a:ext cx="8503920" cy="475488"/>
          </a:xfrm>
          <a:prstGeom prst="roundRect">
            <a:avLst>
              <a:gd name="adj" fmla="val 15385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45643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Application agnostic  ·  Any language  ·  Any framework  ·  Any domain  ·  Under 60 seconds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0040" y="4041648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What the generated document contains: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4297680"/>
            <a:ext cx="4023360" cy="201168"/>
          </a:xfrm>
          <a:prstGeom prst="roundRect">
            <a:avLst>
              <a:gd name="adj" fmla="val 50000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29768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500A"/>
                </a:solidFill>
              </a:rPr>
              <a:t>✓  Architecture diagram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0040" y="4526280"/>
            <a:ext cx="4023360" cy="201168"/>
          </a:xfrm>
          <a:prstGeom prst="roundRect">
            <a:avLst>
              <a:gd name="adj" fmla="val 50000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52628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500A"/>
                </a:solidFill>
              </a:rPr>
              <a:t>✓  Data flow walkthrough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0040" y="4754880"/>
            <a:ext cx="4023360" cy="201168"/>
          </a:xfrm>
          <a:prstGeom prst="roundRect">
            <a:avLst>
              <a:gd name="adj" fmla="val 50000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75488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500A"/>
                </a:solidFill>
              </a:rPr>
              <a:t>✓  Source &amp; target tables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0" y="4297680"/>
            <a:ext cx="4023360" cy="201168"/>
          </a:xfrm>
          <a:prstGeom prst="roundRect">
            <a:avLst>
              <a:gd name="adj" fmla="val 50000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429768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500A"/>
                </a:solidFill>
              </a:rPr>
              <a:t>✓  Column lineage map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572000" y="4526280"/>
            <a:ext cx="4023360" cy="201168"/>
          </a:xfrm>
          <a:prstGeom prst="roundRect">
            <a:avLst>
              <a:gd name="adj" fmla="val 50000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0" y="452628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500A"/>
                </a:solidFill>
              </a:rPr>
              <a:t>✓  Error handling + retries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0" y="4754880"/>
            <a:ext cx="4023360" cy="201168"/>
          </a:xfrm>
          <a:prstGeom prst="roundRect">
            <a:avLst>
              <a:gd name="adj" fmla="val 50000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0" y="475488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500A"/>
                </a:solidFill>
              </a:rPr>
              <a:t>✓  GCP / cloud services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88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47488"/>
            <a:ext cx="85953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ECBF6"/>
                </a:solidFill>
              </a:rPr>
              <a:t>CodeStory — AI Integrated Document Generator  ·  Confidential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"/>
            <a:ext cx="1481328" cy="228600"/>
          </a:xfrm>
          <a:prstGeom prst="roundRect">
            <a:avLst>
              <a:gd name="adj" fmla="val 48000"/>
            </a:avLst>
          </a:prstGeom>
          <a:solidFill>
            <a:srgbClr val="EEEDF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1481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9E75"/>
                </a:solidFill>
              </a:rPr>
              <a:t>HOW IT WORKS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457200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A"/>
                </a:solidFill>
              </a:rPr>
              <a:t>The Prompt Engine — the intelligence at the core.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2011680" cy="2423160"/>
          </a:xfrm>
          <a:prstGeom prst="roundRect">
            <a:avLst>
              <a:gd name="adj" fmla="val 4545"/>
            </a:avLst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" y="107899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0789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5528" y="109728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34AB7"/>
                </a:solidFill>
              </a:rPr>
              <a:t>Base layer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93192" y="1481328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5E5A"/>
                </a:solidFill>
              </a:rPr>
              <a:t>Always sent · ~300 tokens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93192" y="1691640"/>
            <a:ext cx="1828800" cy="0"/>
          </a:xfrm>
          <a:prstGeom prst="line">
            <a:avLst/>
          </a:prstGeom>
          <a:noFill/>
          <a:ln w="508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737360"/>
            <a:ext cx="18288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</a:rPr>
              <a:t>Role, output format rules, 8 section order, hallucination guard — only extract what is in the code, never invent values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496312" y="1005840"/>
            <a:ext cx="2011680" cy="2423160"/>
          </a:xfrm>
          <a:prstGeom prst="roundRect">
            <a:avLst>
              <a:gd name="adj" fmla="val 4545"/>
            </a:avLst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9464" y="107899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9464" y="10789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71800" y="109728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Type block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69464" y="1481328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5E5A"/>
                </a:solidFill>
              </a:rPr>
              <a:t>Swaps per project type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569464" y="1691640"/>
            <a:ext cx="1828800" cy="0"/>
          </a:xfrm>
          <a:prstGeom prst="line">
            <a:avLst/>
          </a:prstGeom>
          <a:noFill/>
          <a:ln w="5080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87752" y="1737360"/>
            <a:ext cx="18288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</a:rPr>
              <a:t>Targeted extraction rules per detected app type — DAGs look for schedule_interval and operators, APIs look for endpoints and models, SQL looks for CTEs and transforms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72584" y="1005840"/>
            <a:ext cx="2011680" cy="2423160"/>
          </a:xfrm>
          <a:prstGeom prst="roundRect">
            <a:avLst>
              <a:gd name="adj" fmla="val 4545"/>
            </a:avLst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45736" y="107899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45736" y="10789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48072" y="109728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A7517"/>
                </a:solidFill>
              </a:rPr>
              <a:t>Focus block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45736" y="1481328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5E5A"/>
                </a:solidFill>
              </a:rPr>
              <a:t>Built from user input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745736" y="1691640"/>
            <a:ext cx="1828800" cy="0"/>
          </a:xfrm>
          <a:prstGeom prst="line">
            <a:avLst/>
          </a:prstGeom>
          <a:noFill/>
          <a:ln w="5080">
            <a:solidFill>
              <a:srgbClr val="BA75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64024" y="1737360"/>
            <a:ext cx="18288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</a:rPr>
              <a:t>The user's one-line hint becomes a SPECIAL FOCUS instruction treated as highest priority — directs the model to the parts the user cares most about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848856" y="1005840"/>
            <a:ext cx="2011680" cy="2423160"/>
          </a:xfrm>
          <a:prstGeom prst="roundRect">
            <a:avLst>
              <a:gd name="adj" fmla="val 4545"/>
            </a:avLst>
          </a:prstGeom>
          <a:solidFill>
            <a:srgbClr val="E6F1FB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22008" y="107899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22008" y="10789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24344" y="109728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5FA5"/>
                </a:solidFill>
              </a:rPr>
              <a:t>Context block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22008" y="1481328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5E5A"/>
                </a:solidFill>
              </a:rPr>
              <a:t>App name · team · description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922008" y="1691640"/>
            <a:ext cx="1828800" cy="0"/>
          </a:xfrm>
          <a:prstGeom prst="line">
            <a:avLst/>
          </a:prstGeom>
          <a:noFill/>
          <a:ln w="5080">
            <a:solidFill>
              <a:srgbClr val="185FA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0296" y="1737360"/>
            <a:ext cx="18288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</a:rPr>
              <a:t>The 'what does this do' sentence anchors every interpretation — the single most important user input. Injected into the doc title, summary, and ownership section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0040" y="3547872"/>
            <a:ext cx="8503920" cy="384048"/>
          </a:xfrm>
          <a:prstGeom prst="roundRect">
            <a:avLst>
              <a:gd name="adj" fmla="val 23810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566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prompt  =  L1 Base  +  L2 Type block(s)  +  L3 Focus  +  L4 Context  +  filtered files with ### FILE: headers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4041648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078224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34AB7"/>
                </a:solidFill>
              </a:rPr>
              <a:t>Key insight:  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417320" y="4078224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A"/>
                </a:solidFill>
              </a:rPr>
              <a:t>Each layer is independently tunable and regression-tested. Changing one layer does not break others. New application types are supported by adding one new type block — a configuration change, not an engineering sprint. This is the IP.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88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47488"/>
            <a:ext cx="85953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ECBF6"/>
                </a:solidFill>
              </a:rPr>
              <a:t>CodeStory — AI Integrated Document Generator  ·  Confidential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"/>
            <a:ext cx="2386584" cy="228600"/>
          </a:xfrm>
          <a:prstGeom prst="roundRect">
            <a:avLst>
              <a:gd name="adj" fmla="val 48000"/>
            </a:avLst>
          </a:prstGeom>
          <a:solidFill>
            <a:srgbClr val="EEEDFE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5A30"/>
                </a:solidFill>
              </a:rPr>
              <a:t>SECURITY &amp; COMPLIANCE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457200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A"/>
                </a:solidFill>
              </a:rPr>
              <a:t>Built for enterprise from day one — not added later.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" y="987552"/>
            <a:ext cx="8503920" cy="402336"/>
          </a:xfrm>
          <a:prstGeom prst="roundRect">
            <a:avLst>
              <a:gd name="adj" fmla="val 18182"/>
            </a:avLst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Core principle:  Source code never touches disk and is never stored. It enters memory, gets processed, and is cleared. Only the generated document persists.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508760"/>
            <a:ext cx="2743200" cy="1298448"/>
          </a:xfrm>
          <a:prstGeom prst="roundRect">
            <a:avLst>
              <a:gd name="adj" fmla="val 7042"/>
            </a:avLst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60020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600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5528" y="1618488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34AB7"/>
                </a:solidFill>
              </a:rPr>
              <a:t>SSO only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1984248"/>
            <a:ext cx="2560320" cy="0"/>
          </a:xfrm>
          <a:prstGeom prst="line">
            <a:avLst/>
          </a:prstGeom>
          <a:noFill/>
          <a:ln w="508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03911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</a:rPr>
              <a:t>Okta / Azure AD · SAML 2.0 · No separate accounts or passwords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172968" y="1508760"/>
            <a:ext cx="2743200" cy="1298448"/>
          </a:xfrm>
          <a:prstGeom prst="roundRect">
            <a:avLst>
              <a:gd name="adj" fmla="val 7042"/>
            </a:avLst>
          </a:prstGeom>
          <a:solidFill>
            <a:srgbClr val="E6F1FB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64408" y="160020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4408" y="1600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48456" y="1618488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5FA5"/>
                </a:solidFill>
              </a:rPr>
              <a:t>Private network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64408" y="1984248"/>
            <a:ext cx="2560320" cy="0"/>
          </a:xfrm>
          <a:prstGeom prst="line">
            <a:avLst/>
          </a:prstGeom>
          <a:noFill/>
          <a:ln w="5080">
            <a:solidFill>
              <a:srgbClr val="185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4408" y="203911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</a:rPr>
              <a:t>VPC only · No public endpoints · Egress allowlist: GHE + LLM + Confluence only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025896" y="1508760"/>
            <a:ext cx="2743200" cy="1298448"/>
          </a:xfrm>
          <a:prstGeom prst="roundRect">
            <a:avLst>
              <a:gd name="adj" fmla="val 7042"/>
            </a:avLst>
          </a:prstGeom>
          <a:solidFill>
            <a:srgbClr val="FAECE7"/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17336" y="160020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17336" y="1600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🧹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01384" y="1618488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85A30"/>
                </a:solidFill>
              </a:rPr>
              <a:t>Secret scrubber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17336" y="1984248"/>
            <a:ext cx="2560320" cy="0"/>
          </a:xfrm>
          <a:prstGeom prst="line">
            <a:avLst/>
          </a:prstGeom>
          <a:noFill/>
          <a:ln w="5080">
            <a:solidFill>
              <a:srgbClr val="D85A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17336" y="203911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</a:rPr>
              <a:t>Passwords, keys, certs stripped before LLM call · Cannot be bypassed · Every redaction logged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" y="2926080"/>
            <a:ext cx="2743200" cy="1298448"/>
          </a:xfrm>
          <a:prstGeom prst="roundRect">
            <a:avLst>
              <a:gd name="adj" fmla="val 7042"/>
            </a:avLst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301752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017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95528" y="3035808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Private LLM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11480" y="3401568"/>
            <a:ext cx="2560320" cy="0"/>
          </a:xfrm>
          <a:prstGeom prst="line">
            <a:avLst/>
          </a:prstGeom>
          <a:noFill/>
          <a:ln w="5080">
            <a:solidFill>
              <a:srgbClr val="1D9E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45643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</a:rPr>
              <a:t>Model runs inside network perimeter · Zero data retention · No training on your code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172968" y="2926080"/>
            <a:ext cx="2743200" cy="1298448"/>
          </a:xfrm>
          <a:prstGeom prst="roundRect">
            <a:avLst>
              <a:gd name="adj" fmla="val 7042"/>
            </a:avLst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64408" y="301752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64408" y="3017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648456" y="3035808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A7517"/>
                </a:solidFill>
              </a:rPr>
              <a:t>Access mirrors GHE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64408" y="3401568"/>
            <a:ext cx="2560320" cy="0"/>
          </a:xfrm>
          <a:prstGeom prst="line">
            <a:avLst/>
          </a:prstGeom>
          <a:noFill/>
          <a:ln w="5080">
            <a:solidFill>
              <a:srgbClr val="BA75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64408" y="345643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</a:rPr>
              <a:t>Cannot generate docs for repos you cannot read · Permission inherited automatically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025896" y="2926080"/>
            <a:ext cx="2743200" cy="1298448"/>
          </a:xfrm>
          <a:prstGeom prst="roundRect">
            <a:avLst>
              <a:gd name="adj" fmla="val 7042"/>
            </a:avLst>
          </a:prstGeom>
          <a:solidFill>
            <a:srgbClr val="F1EFE8"/>
          </a:solidFill>
          <a:ln w="6350">
            <a:solidFill>
              <a:srgbClr val="2C2C2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17336" y="301752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17336" y="3017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501384" y="3035808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A"/>
                </a:solidFill>
              </a:rPr>
              <a:t>Immutable audit log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117336" y="3401568"/>
            <a:ext cx="2560320" cy="0"/>
          </a:xfrm>
          <a:prstGeom prst="line">
            <a:avLst/>
          </a:prstGeom>
          <a:noFill/>
          <a:ln w="5080">
            <a:solidFill>
              <a:srgbClr val="2C2C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17336" y="345643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</a:rPr>
              <a:t>Every run logged: user · repo · commit · files · redactions · model version · SIEM forwarded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88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47488"/>
            <a:ext cx="85953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ECBF6"/>
                </a:solidFill>
              </a:rPr>
              <a:t>CodeStory — AI Integrated Document Generator  ·  Confidential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"/>
            <a:ext cx="1179576" cy="228600"/>
          </a:xfrm>
          <a:prstGeom prst="roundRect">
            <a:avLst>
              <a:gd name="adj" fmla="val 48000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1179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34AB7"/>
                </a:solidFill>
              </a:rPr>
              <a:t>LIVE DEMO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457200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A"/>
                </a:solidFill>
              </a:rPr>
              <a:t>What you will see in the next 8 minutes.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4206240" cy="804672"/>
          </a:xfrm>
          <a:prstGeom prst="roundRect">
            <a:avLst>
              <a:gd name="adj" fmla="val 11364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" y="107899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0789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86200" y="1097280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109728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34AB7"/>
                </a:solidFill>
              </a:rPr>
              <a:t>30s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95528" y="107899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A"/>
                </a:solidFill>
              </a:rPr>
              <a:t>SSO Login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95528" y="1335024"/>
            <a:ext cx="363931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F5E5A"/>
                </a:solidFill>
              </a:rPr>
              <a:t>Log in with existing corporate credentials. No new account. Permissions inherited from GitHub automatically.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4727448" y="1005840"/>
            <a:ext cx="4206240" cy="804672"/>
          </a:xfrm>
          <a:prstGeom prst="roundRect">
            <a:avLst>
              <a:gd name="adj" fmla="val 11364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107899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0789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93608" y="1097280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93608" y="109728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34AB7"/>
                </a:solidFill>
              </a:rPr>
              <a:t>1 min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202936" y="107899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A"/>
                </a:solidFill>
              </a:rPr>
              <a:t>Three live connections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02936" y="1335024"/>
            <a:ext cx="363931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F5E5A"/>
                </a:solidFill>
              </a:rPr>
              <a:t>GitHub Enterprise · Confluence · AI model — all connected, all private, all inside the network.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320040" y="1920240"/>
            <a:ext cx="4206240" cy="804672"/>
          </a:xfrm>
          <a:prstGeom prst="roundRect">
            <a:avLst>
              <a:gd name="adj" fmla="val 11364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3192" y="199339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" y="19933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86200" y="2011680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86200" y="201168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34AB7"/>
                </a:solidFill>
              </a:rPr>
              <a:t>1 min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95528" y="199339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A"/>
                </a:solidFill>
              </a:rPr>
              <a:t>Minimal user input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95528" y="2249424"/>
            <a:ext cx="363931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F5E5A"/>
                </a:solidFill>
              </a:rPr>
              <a:t>Repo link · branch · app name · team · one sentence description · project type chips. That is everything the user provides.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4727448" y="1920240"/>
            <a:ext cx="4206240" cy="804672"/>
          </a:xfrm>
          <a:prstGeom prst="roundRect">
            <a:avLst>
              <a:gd name="adj" fmla="val 11364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199339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9933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293608" y="2011680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93608" y="201168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34AB7"/>
                </a:solidFill>
              </a:rPr>
              <a:t>30s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02936" y="199339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A"/>
                </a:solidFill>
              </a:rPr>
              <a:t>File filter + secret scrub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202936" y="2249424"/>
            <a:ext cx="363931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F5E5A"/>
                </a:solidFill>
              </a:rPr>
              <a:t>Watch 200+ files reduce to ~50 signal files. Credentials stripped. Nothing sensitive reaches the model.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320040" y="2834640"/>
            <a:ext cx="4206240" cy="804672"/>
          </a:xfrm>
          <a:prstGeom prst="roundRect">
            <a:avLst>
              <a:gd name="adj" fmla="val 11364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93192" y="290779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" y="29077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886200" y="2926080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86200" y="292608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34AB7"/>
                </a:solidFill>
              </a:rPr>
              <a:t>2 min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95528" y="290779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A"/>
                </a:solidFill>
              </a:rPr>
              <a:t>Generation run — live stream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95528" y="3163824"/>
            <a:ext cx="363931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F5E5A"/>
                </a:solidFill>
              </a:rPr>
              <a:t>One click. Watch the document write itself section by section in real time. Architecture, data flow, tables, error handling.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4727448" y="2834640"/>
            <a:ext cx="4206240" cy="804672"/>
          </a:xfrm>
          <a:prstGeom prst="roundRect">
            <a:avLst>
              <a:gd name="adj" fmla="val 11364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00600" y="290779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29077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293608" y="2926080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93608" y="292608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34AB7"/>
                </a:solidFill>
              </a:rPr>
              <a:t>2 min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202936" y="290779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A"/>
                </a:solidFill>
              </a:rPr>
              <a:t>The generated document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202936" y="3163824"/>
            <a:ext cx="363931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F5E5A"/>
                </a:solidFill>
              </a:rPr>
              <a:t>50+ pages. Architecture diagrams. Full table schemas. Column lineage. Error paths. Queryable in plain English.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320040" y="3749040"/>
            <a:ext cx="4206240" cy="804672"/>
          </a:xfrm>
          <a:prstGeom prst="roundRect">
            <a:avLst>
              <a:gd name="adj" fmla="val 11364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93192" y="382219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3192" y="38221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886200" y="3840480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86200" y="384048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34AB7"/>
                </a:solidFill>
              </a:rPr>
              <a:t>30s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95528" y="382219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A"/>
                </a:solidFill>
              </a:rPr>
              <a:t>Confluence publish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795528" y="4078224"/>
            <a:ext cx="363931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F5E5A"/>
                </a:solidFill>
              </a:rPr>
              <a:t>One click. Published to the right space, right page, right format. Version history captured.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4727448" y="3749040"/>
            <a:ext cx="4206240" cy="804672"/>
          </a:xfrm>
          <a:prstGeom prst="roundRect">
            <a:avLst>
              <a:gd name="adj" fmla="val 11364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00600" y="382219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00600" y="38221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8293608" y="3840480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293608" y="384048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34AB7"/>
                </a:solidFill>
              </a:rPr>
              <a:t>30s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202936" y="382219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A"/>
                </a:solidFill>
              </a:rPr>
              <a:t>Audit trail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5202936" y="4078224"/>
            <a:ext cx="363931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F5E5A"/>
                </a:solidFill>
              </a:rPr>
              <a:t>Every run logged immutably. Who, what repo, which commit, how many secrets redacted, which model version.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88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47488"/>
            <a:ext cx="85953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ECBF6"/>
                </a:solidFill>
              </a:rPr>
              <a:t>CodeStory — AI Integrated Document Generator  ·  Confidential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"/>
            <a:ext cx="877824" cy="228600"/>
          </a:xfrm>
          <a:prstGeom prst="roundRect">
            <a:avLst>
              <a:gd name="adj" fmla="val 48000"/>
            </a:avLst>
          </a:prstGeom>
          <a:solidFill>
            <a:srgbClr val="EEEDF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8778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9E75"/>
                </a:solidFill>
              </a:rPr>
              <a:t>IMPACT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457200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A"/>
                </a:solidFill>
              </a:rPr>
              <a:t>What the first real use case delivered.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" y="987552"/>
            <a:ext cx="8503920" cy="914400"/>
          </a:xfrm>
          <a:prstGeom prst="roundRect">
            <a:avLst>
              <a:gd name="adj" fmla="val 10000"/>
            </a:avLst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0584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D9E75"/>
                </a:solidFill>
              </a:rPr>
              <a:t>50+</a:t>
            </a:r>
            <a:endParaRPr lang="en-US" sz="4600" dirty="0"/>
          </a:p>
        </p:txBody>
      </p:sp>
      <p:sp>
        <p:nvSpPr>
          <p:cNvPr id="10" name="Shape 8"/>
          <p:cNvSpPr/>
          <p:nvPr/>
        </p:nvSpPr>
        <p:spPr>
          <a:xfrm>
            <a:off x="2011680" y="1097280"/>
            <a:ext cx="0" cy="68580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76272" y="105156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</a:rPr>
              <a:t>page end-to-end technical document generated from a complex multi-system codebase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76272" y="146304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in under a few hours  ·  traditionally takes weeks of manual effort from senior engineers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86600" y="1234440"/>
            <a:ext cx="1554480" cy="201168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0" y="123444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VALIDATED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" y="2029968"/>
            <a:ext cx="2011680" cy="2395728"/>
          </a:xfrm>
          <a:prstGeom prst="roundRect">
            <a:avLst>
              <a:gd name="adj" fmla="val 4545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08483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D9E75"/>
                </a:solidFill>
              </a:rPr>
              <a:t>1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411480" y="27797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9E75"/>
                </a:solidFill>
              </a:rPr>
              <a:t>source of truth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090672"/>
            <a:ext cx="1645920" cy="0"/>
          </a:xfrm>
          <a:prstGeom prst="line">
            <a:avLst/>
          </a:prstGeom>
          <a:noFill/>
          <a:ln w="5080">
            <a:solidFill>
              <a:srgbClr val="D3D1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145536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</a:rPr>
              <a:t>Single, always-current document for the full system. For the first time.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496312" y="2029968"/>
            <a:ext cx="2011680" cy="2395728"/>
          </a:xfrm>
          <a:prstGeom prst="roundRect">
            <a:avLst>
              <a:gd name="adj" fmla="val 4545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96312" y="208483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34AB7"/>
                </a:solidFill>
              </a:rPr>
              <a:t>↓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2587752" y="27797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34AB7"/>
                </a:solidFill>
              </a:rPr>
              <a:t>onboarding time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79192" y="3090672"/>
            <a:ext cx="1645920" cy="0"/>
          </a:xfrm>
          <a:prstGeom prst="line">
            <a:avLst/>
          </a:prstGeom>
          <a:noFill/>
          <a:ln w="5080">
            <a:solidFill>
              <a:srgbClr val="D3D1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87752" y="3145536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</a:rPr>
              <a:t>New engineers go from weeks to days before contributing.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72584" y="2029968"/>
            <a:ext cx="2011680" cy="2395728"/>
          </a:xfrm>
          <a:prstGeom prst="roundRect">
            <a:avLst>
              <a:gd name="adj" fmla="val 4545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72584" y="208483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A7517"/>
                </a:solidFill>
              </a:rPr>
              <a:t>↑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4764024" y="27797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A7517"/>
                </a:solidFill>
              </a:rPr>
              <a:t>production speed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55464" y="3090672"/>
            <a:ext cx="1645920" cy="0"/>
          </a:xfrm>
          <a:prstGeom prst="line">
            <a:avLst/>
          </a:prstGeom>
          <a:noFill/>
          <a:ln w="5080">
            <a:solidFill>
              <a:srgbClr val="D3D1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64024" y="3145536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</a:rPr>
              <a:t>Support engineers trace flows in minutes, not hours.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848856" y="2029968"/>
            <a:ext cx="2011680" cy="2395728"/>
          </a:xfrm>
          <a:prstGeom prst="roundRect">
            <a:avLst>
              <a:gd name="adj" fmla="val 4545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48856" y="208483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85FA5"/>
                </a:solidFill>
              </a:rPr>
              <a:t>0</a:t>
            </a:r>
            <a:endParaRPr lang="en-US" sz="4200" dirty="0"/>
          </a:p>
        </p:txBody>
      </p:sp>
      <p:sp>
        <p:nvSpPr>
          <p:cNvPr id="32" name="Text 30"/>
          <p:cNvSpPr/>
          <p:nvPr/>
        </p:nvSpPr>
        <p:spPr>
          <a:xfrm>
            <a:off x="6940296" y="27797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5FA5"/>
                </a:solidFill>
              </a:rPr>
              <a:t>senior dependency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031736" y="3090672"/>
            <a:ext cx="1645920" cy="0"/>
          </a:xfrm>
          <a:prstGeom prst="line">
            <a:avLst/>
          </a:prstGeom>
          <a:noFill/>
          <a:ln w="5080">
            <a:solidFill>
              <a:srgbClr val="D3D1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0296" y="3145536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</a:rPr>
              <a:t>Joiners understand the system without pulling senior engineers away.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88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47488"/>
            <a:ext cx="85953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ECBF6"/>
                </a:solidFill>
              </a:rPr>
              <a:t>CodeStory — AI Integrated Document Generator  ·  Confidential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"/>
            <a:ext cx="1481328" cy="228600"/>
          </a:xfrm>
          <a:prstGeom prst="roundRect">
            <a:avLst>
              <a:gd name="adj" fmla="val 48000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1481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34AB7"/>
                </a:solidFill>
              </a:rPr>
              <a:t>FUTURE SCOPE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457200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A"/>
                </a:solidFill>
              </a:rPr>
              <a:t>Where this goes from here.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2011680" cy="3584448"/>
          </a:xfrm>
          <a:prstGeom prst="roundRect">
            <a:avLst>
              <a:gd name="adj" fmla="val 4545"/>
            </a:avLst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078992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07899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LIVE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133502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9E75"/>
                </a:solidFill>
              </a:rPr>
              <a:t>Phase 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153619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</a:rPr>
              <a:t>Document Generation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1901952"/>
            <a:ext cx="1828800" cy="0"/>
          </a:xfrm>
          <a:prstGeom prst="line">
            <a:avLst/>
          </a:prstGeom>
          <a:noFill/>
          <a:ln w="5080">
            <a:solidFill>
              <a:srgbClr val="1D9E7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1975104"/>
            <a:ext cx="73152" cy="7315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" y="192024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</a:rPr>
              <a:t>Any repo → full architecture doc in &lt;60s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1480" y="2487168"/>
            <a:ext cx="73152" cy="7315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" y="2432304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</a:rPr>
              <a:t>8 standard sections always present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2999232"/>
            <a:ext cx="73152" cy="7315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" y="2944368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</a:rPr>
              <a:t>ASCII diagrams + table lineage + error paths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11480" y="3511296"/>
            <a:ext cx="73152" cy="7315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" y="3456432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</a:rPr>
              <a:t>Publish to Confluence automatically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496312" y="1005840"/>
            <a:ext cx="2011680" cy="3584448"/>
          </a:xfrm>
          <a:prstGeom prst="roundRect">
            <a:avLst>
              <a:gd name="adj" fmla="val 4545"/>
            </a:avLst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87752" y="1078992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87752" y="107899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PLANNED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587752" y="133502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34AB7"/>
                </a:solidFill>
              </a:rPr>
              <a:t>Phase 2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87752" y="153619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</a:rPr>
              <a:t>Conversational Access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87752" y="1901952"/>
            <a:ext cx="1828800" cy="0"/>
          </a:xfrm>
          <a:prstGeom prst="line">
            <a:avLst/>
          </a:prstGeom>
          <a:noFill/>
          <a:ln w="5080">
            <a:solidFill>
              <a:srgbClr val="534AB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87752" y="1975104"/>
            <a:ext cx="73152" cy="7315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15768" y="192024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</a:rPr>
              <a:t>Ask questions of any generated document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587752" y="2487168"/>
            <a:ext cx="73152" cy="7315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15768" y="2432304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</a:rPr>
              <a:t>Plain English answers grounded in code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587752" y="2999232"/>
            <a:ext cx="73152" cy="7315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15768" y="2944368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</a:rPr>
              <a:t>Support engineers, new joiners, architects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587752" y="3511296"/>
            <a:ext cx="73152" cy="7315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15768" y="3456432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</a:rPr>
              <a:t>No reading required — just ask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72584" y="1005840"/>
            <a:ext cx="2011680" cy="3584448"/>
          </a:xfrm>
          <a:prstGeom prst="roundRect">
            <a:avLst>
              <a:gd name="adj" fmla="val 4545"/>
            </a:avLst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64024" y="1078992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64024" y="107899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ROADMAP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64024" y="133502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A7517"/>
                </a:solidFill>
              </a:rPr>
              <a:t>Phase 3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64024" y="153619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</a:rPr>
              <a:t>Cross-System Lineage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64024" y="1901952"/>
            <a:ext cx="1828800" cy="0"/>
          </a:xfrm>
          <a:prstGeom prst="line">
            <a:avLst/>
          </a:prstGeom>
          <a:noFill/>
          <a:ln w="5080">
            <a:solidFill>
              <a:srgbClr val="BA751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64024" y="1975104"/>
            <a:ext cx="73152" cy="73152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192024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</a:rPr>
              <a:t>Trace a field across multiple repositories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764024" y="2487168"/>
            <a:ext cx="73152" cy="73152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2432304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</a:rPr>
              <a:t>End-to-end lineage across teams and systems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764024" y="2999232"/>
            <a:ext cx="73152" cy="73152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2944368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</a:rPr>
              <a:t>Dependency maps for modernisation planning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764024" y="3511296"/>
            <a:ext cx="73152" cy="73152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3456432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</a:rPr>
              <a:t>Answer 'what does this breaking change affect'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848856" y="1005840"/>
            <a:ext cx="2011680" cy="3584448"/>
          </a:xfrm>
          <a:prstGeom prst="roundRect">
            <a:avLst>
              <a:gd name="adj" fmla="val 4545"/>
            </a:avLst>
          </a:prstGeom>
          <a:solidFill>
            <a:srgbClr val="E6F1FB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940296" y="1078992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40296" y="107899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VISION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940296" y="133502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85FA5"/>
                </a:solidFill>
              </a:rPr>
              <a:t>Phase 4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940296" y="153619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</a:rPr>
              <a:t>Compliance Reporting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940296" y="1901952"/>
            <a:ext cx="1828800" cy="0"/>
          </a:xfrm>
          <a:prstGeom prst="line">
            <a:avLst/>
          </a:prstGeom>
          <a:noFill/>
          <a:ln w="5080">
            <a:solidFill>
              <a:srgbClr val="185FA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940296" y="1975104"/>
            <a:ext cx="73152" cy="73152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68312" y="192024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</a:rPr>
              <a:t>Code-grounded data lineage for regulators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940296" y="2487168"/>
            <a:ext cx="73152" cy="73152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68312" y="2432304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</a:rPr>
              <a:t>Transformation inventories auto-generated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940296" y="2999232"/>
            <a:ext cx="73152" cy="73152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68312" y="2944368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</a:rPr>
              <a:t>Audit-ready documentation from code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940296" y="3511296"/>
            <a:ext cx="73152" cy="73152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68312" y="3456432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</a:rPr>
              <a:t>Stronger evidence base than manual attestation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20040" y="4663440"/>
            <a:ext cx="8503920" cy="246888"/>
          </a:xfrm>
          <a:prstGeom prst="roundRect">
            <a:avLst>
              <a:gd name="adj" fmla="val 22222"/>
            </a:avLst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466344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Works today on:  SQL  ·  DAGs / Airflow  ·  Spark / Dataflow  ·  Java Spring Boot  ·  Python APIs  ·  Angular / React  ·  Legacy systems  ·  Mixed repos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926080"/>
            <a:ext cx="2743200" cy="2743200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400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question is not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whether this is useful.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A9EC"/>
                </a:solidFill>
              </a:rPr>
              <a:t>The question is how many systems in your organisation are running right now with no one who can fully explain them — and what that costs every time someone new joins, something breaks, or needs to change.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3246120"/>
            <a:ext cx="3657600" cy="0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4015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CodeStory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3858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77DD"/>
                </a:solidFill>
              </a:rPr>
              <a:t>Point.  Read.  Document.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CodeStory — Executive Demo</dc:title>
  <dc:subject>PptxGenJS Presentation</dc:subject>
  <dc:creator>Engineering</dc:creator>
  <cp:lastModifiedBy>Engineering</cp:lastModifiedBy>
  <cp:revision>1</cp:revision>
  <dcterms:created xsi:type="dcterms:W3CDTF">2026-03-25T08:30:25Z</dcterms:created>
  <dcterms:modified xsi:type="dcterms:W3CDTF">2026-03-25T08:30:25Z</dcterms:modified>
</cp:coreProperties>
</file>